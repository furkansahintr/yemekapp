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F65013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F65013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FF9F43">
              <a:alpha val="8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650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YemekApp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Mimarisi &amp; Navigasyon Planlaması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1828800" cy="36576"/>
          </a:xfrm>
          <a:prstGeom prst="rect">
            <a:avLst/>
          </a:prstGeom>
          <a:solidFill>
            <a:srgbClr val="F6501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&amp; UX Designer Perspektifi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1828800" cy="411480"/>
          </a:xfrm>
          <a:prstGeom prst="rect">
            <a:avLst>
              <a:gd name="adj" fmla="val 11111"/>
            </a:avLst>
          </a:prstGeom>
          <a:solidFill>
            <a:srgbClr val="2A2A4A"/>
          </a:solidFill>
          <a:ln w="12700">
            <a:solidFill>
              <a:srgbClr val="F650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931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5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Menü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3931920"/>
            <a:ext cx="1828800" cy="411480"/>
          </a:xfrm>
          <a:prstGeom prst="rect">
            <a:avLst>
              <a:gd name="adj" fmla="val 11111"/>
            </a:avLst>
          </a:prstGeom>
          <a:solidFill>
            <a:srgbClr val="2A2A4A"/>
          </a:solidFill>
          <a:ln w="12700">
            <a:solidFill>
              <a:srgbClr val="F650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3931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5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Rehberi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3931920"/>
            <a:ext cx="1828800" cy="411480"/>
          </a:xfrm>
          <a:prstGeom prst="rect">
            <a:avLst>
              <a:gd name="adj" fmla="val 11111"/>
            </a:avLst>
          </a:prstGeom>
          <a:solidFill>
            <a:srgbClr val="2A2A4A"/>
          </a:solidFill>
          <a:ln w="12700">
            <a:solidFill>
              <a:srgbClr val="F650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931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5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 Platformu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Vizyon &amp; Problem Tanımı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F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840480" cy="237744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1031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0"/>
                </a:solidFill>
              </a:rPr>
              <a:t>Kullanıcılar yemek deneyimini 3 ayrı uygulamada yaşıyor: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D9DB5"/>
                </a:solidFill>
              </a:rPr>
              <a:t>Tarif uygulamaları (evde pişirme)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D9DB5"/>
                </a:solidFill>
              </a:rPr>
              <a:t>Sipariş platformları (teslimat)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D9DB5"/>
                </a:solidFill>
              </a:rPr>
              <a:t>Restoran QR menüleri (yerinde)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7A45"/>
                </a:solidFill>
              </a:rPr>
              <a:t>Bu parçalanmış deneyim kullanıcı sadakatini düşürüyor.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0352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D5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Vizyon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846320" y="1920240"/>
            <a:ext cx="3840480" cy="237744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120640" y="21031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0"/>
                </a:solidFill>
              </a:rPr>
              <a:t>Tek platform, üç deneyim: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D9DB5"/>
                </a:solidFill>
              </a:rPr>
              <a:t>Evde pişir — Tarif keşfet &amp; paylaş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D9DB5"/>
                </a:solidFill>
              </a:rPr>
              <a:t>Sipariş ver — Restoran &amp; teslimat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D9DB5"/>
                </a:solidFill>
              </a:rPr>
              <a:t>Yerinde tara — QR ile menü &amp; sipariş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D573"/>
                </a:solidFill>
              </a:rPr>
              <a:t>Sosyal katman ile topluluk oluştur.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Hedef Kullanıcı Personaları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560320" cy="30175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2560320" cy="54864"/>
          </a:xfrm>
          <a:prstGeom prst="rect">
            <a:avLst/>
          </a:prstGeom>
          <a:solidFill>
            <a:srgbClr val="F65013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1691640"/>
            <a:ext cx="822960" cy="822960"/>
          </a:xfrm>
          <a:prstGeom prst="ellipse">
            <a:avLst/>
          </a:prstGeom>
          <a:solidFill>
            <a:srgbClr val="2323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8745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 Aşçısı Elif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200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Tarifleri keşfeder, koleksiyonlar oluşturur, kendi tariflerini paylaşır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371600"/>
            <a:ext cx="2560320" cy="30175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371600"/>
            <a:ext cx="2560320" cy="54864"/>
          </a:xfrm>
          <a:prstGeom prst="rect">
            <a:avLst/>
          </a:prstGeom>
          <a:solidFill>
            <a:srgbClr val="45AAF2"/>
          </a:solidFill>
          <a:ln/>
        </p:spPr>
      </p:sp>
      <p:sp>
        <p:nvSpPr>
          <p:cNvPr id="11" name="Shape 8"/>
          <p:cNvSpPr/>
          <p:nvPr/>
        </p:nvSpPr>
        <p:spPr>
          <a:xfrm>
            <a:off x="4343400" y="1691640"/>
            <a:ext cx="822960" cy="822960"/>
          </a:xfrm>
          <a:prstGeom prst="ellipse">
            <a:avLst/>
          </a:prstGeom>
          <a:solidFill>
            <a:srgbClr val="23234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8745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Sipariş Veren Ahmet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49040" y="3200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sipariş, favori restoranlar, teslimat takibi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1371600"/>
            <a:ext cx="2560320" cy="30175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9360" y="1371600"/>
            <a:ext cx="2560320" cy="54864"/>
          </a:xfrm>
          <a:prstGeom prst="rect">
            <a:avLst/>
          </a:prstGeom>
          <a:solidFill>
            <a:srgbClr val="2ED573"/>
          </a:solidFill>
          <a:ln/>
        </p:spPr>
      </p:sp>
      <p:sp>
        <p:nvSpPr>
          <p:cNvPr id="17" name="Shape 13"/>
          <p:cNvSpPr/>
          <p:nvPr/>
        </p:nvSpPr>
        <p:spPr>
          <a:xfrm>
            <a:off x="7178040" y="1691640"/>
            <a:ext cx="822960" cy="822960"/>
          </a:xfrm>
          <a:prstGeom prst="ellipse">
            <a:avLst/>
          </a:prstGeom>
          <a:solidFill>
            <a:srgbClr val="23234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8745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Restoran Müşterisi Zeynep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583680" y="3200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tarayarak menüye erişir, yerinde sipariş verir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Bottom Navigation — Mimari Karar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6400800" cy="91440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4173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75564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65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Sayfa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41732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97480" y="175564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Keşfet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41732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886200" y="175564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41732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074920" y="175564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Sepet</a:t>
            </a:r>
            <a:endParaRPr lang="en-US" sz="9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417320"/>
            <a:ext cx="320040" cy="3200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263640" y="175564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900" dirty="0"/>
          </a:p>
        </p:txBody>
      </p:sp>
      <p:sp>
        <p:nvSpPr>
          <p:cNvPr id="14" name="Text 7"/>
          <p:cNvSpPr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F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Neden 5 Tab?</a:t>
            </a:r>
            <a:endParaRPr lang="en-US" sz="1800" dirty="0"/>
          </a:p>
        </p:txBody>
      </p:sp>
      <p:sp>
        <p:nvSpPr>
          <p:cNvPr id="15" name="Shape 8"/>
          <p:cNvSpPr/>
          <p:nvPr/>
        </p:nvSpPr>
        <p:spPr>
          <a:xfrm>
            <a:off x="640080" y="2926080"/>
            <a:ext cx="2560320" cy="16459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640080" y="2926080"/>
            <a:ext cx="54864" cy="1645920"/>
          </a:xfrm>
          <a:prstGeom prst="rect">
            <a:avLst/>
          </a:prstGeom>
          <a:solidFill>
            <a:srgbClr val="F65013"/>
          </a:solidFill>
          <a:ln/>
        </p:spPr>
      </p:sp>
      <p:sp>
        <p:nvSpPr>
          <p:cNvPr id="17" name="Text 10"/>
          <p:cNvSpPr/>
          <p:nvPr/>
        </p:nvSpPr>
        <p:spPr>
          <a:xfrm>
            <a:off x="82296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Thumb Zone Optimizasyonu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82296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tab, tek elle erişim için ideal. 4 az, 6 fazla kalabalık.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3474720" y="2926080"/>
            <a:ext cx="2560320" cy="16459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3474720" y="2926080"/>
            <a:ext cx="54864" cy="1645920"/>
          </a:xfrm>
          <a:prstGeom prst="rect">
            <a:avLst/>
          </a:prstGeom>
          <a:solidFill>
            <a:srgbClr val="45AAF2"/>
          </a:solidFill>
          <a:ln/>
        </p:spPr>
      </p:sp>
      <p:sp>
        <p:nvSpPr>
          <p:cNvPr id="21" name="Text 14"/>
          <p:cNvSpPr/>
          <p:nvPr/>
        </p:nvSpPr>
        <p:spPr>
          <a:xfrm>
            <a:off x="365760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Görev Odaklı Gruplama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365760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tab net bir kullanıcı amacını temsil eder — keşif, yapay zeka, satın alma, kimlik.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309360" y="2926080"/>
            <a:ext cx="2560320" cy="16459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309360" y="2926080"/>
            <a:ext cx="54864" cy="1645920"/>
          </a:xfrm>
          <a:prstGeom prst="rect">
            <a:avLst/>
          </a:prstGeom>
          <a:solidFill>
            <a:srgbClr val="2ED573"/>
          </a:solidFill>
          <a:ln/>
        </p:spPr>
      </p:sp>
      <p:sp>
        <p:nvSpPr>
          <p:cNvPr id="25" name="Text 18"/>
          <p:cNvSpPr/>
          <p:nvPr/>
        </p:nvSpPr>
        <p:spPr>
          <a:xfrm>
            <a:off x="64922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Merkez Konumda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49224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Ortadaki AI butonu, uygulamanın akıllı asistanını vurgular ve erişimi kolaylaştırır.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 Yapısı &amp; İçerik Hiyerarşisi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54480" cy="34747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1554480" cy="45720"/>
          </a:xfrm>
          <a:prstGeom prst="rect">
            <a:avLst/>
          </a:prstGeom>
          <a:solidFill>
            <a:srgbClr val="F6501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 Sayfa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1371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D9DB5"/>
                </a:solidFill>
              </a:rPr>
              <a:t>Stories Carousel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D9DB5"/>
                </a:solidFill>
              </a:rPr>
              <a:t>Tarifler / Restoranlar Sub-tabs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D9DB5"/>
                </a:solidFill>
              </a:rPr>
              <a:t>Kategori Pilleri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D9DB5"/>
                </a:solidFill>
              </a:rPr>
              <a:t>Kart Listesi (infinite scroll)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148840" y="1188720"/>
            <a:ext cx="1554480" cy="34747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148840" y="1188720"/>
            <a:ext cx="1554480" cy="45720"/>
          </a:xfrm>
          <a:prstGeom prst="rect">
            <a:avLst/>
          </a:prstGeom>
          <a:solidFill>
            <a:srgbClr val="FF9F4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417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4028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Keşfet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240280" y="2286000"/>
            <a:ext cx="1371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D9DB5"/>
                </a:solidFill>
              </a:rPr>
              <a:t>Arama Çubuğu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D9DB5"/>
                </a:solidFill>
              </a:rPr>
              <a:t>Kategori Filtreleri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D9DB5"/>
                </a:solidFill>
              </a:rPr>
              <a:t>Pinterest Masonry Grid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D9DB5"/>
                </a:solidFill>
              </a:rPr>
              <a:t>Tarif + Restoran Karışık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840480" y="1188720"/>
            <a:ext cx="1554480" cy="34747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840480" y="1188720"/>
            <a:ext cx="1554480" cy="45720"/>
          </a:xfrm>
          <a:prstGeom prst="rect">
            <a:avLst/>
          </a:prstGeom>
          <a:solidFill>
            <a:srgbClr val="45AAF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417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3192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Asistan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931920" y="2286000"/>
            <a:ext cx="1371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D9DB5"/>
                </a:solidFill>
              </a:rPr>
              <a:t>Chat Arayüzü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D9DB5"/>
                </a:solidFill>
              </a:rPr>
              <a:t>Tarif Önerisi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D9DB5"/>
                </a:solidFill>
              </a:rPr>
              <a:t>Diyet Planlama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D9DB5"/>
                </a:solidFill>
              </a:rPr>
              <a:t>Malzeme Tanıma (Kamera)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532120" y="1188720"/>
            <a:ext cx="1554480" cy="34747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532120" y="1188720"/>
            <a:ext cx="1554480" cy="45720"/>
          </a:xfrm>
          <a:prstGeom prst="rect">
            <a:avLst/>
          </a:prstGeom>
          <a:solidFill>
            <a:srgbClr val="2ED57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4173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2356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Sepet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623560" y="2286000"/>
            <a:ext cx="1371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D9DB5"/>
                </a:solidFill>
              </a:rPr>
              <a:t>Aktif Sipariş Özeti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D9DB5"/>
                </a:solidFill>
              </a:rPr>
              <a:t>Ürün Listesi + Miktar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D9DB5"/>
                </a:solidFill>
              </a:rPr>
              <a:t>Toplam &amp; Teslimat Ücreti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D9DB5"/>
                </a:solidFill>
              </a:rPr>
              <a:t>Ödeme Butonu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7223760" y="1188720"/>
            <a:ext cx="1554480" cy="34747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223760" y="1188720"/>
            <a:ext cx="1554480" cy="45720"/>
          </a:xfrm>
          <a:prstGeom prst="rect">
            <a:avLst/>
          </a:prstGeom>
          <a:solidFill>
            <a:srgbClr val="B388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41732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1520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7315200" y="2286000"/>
            <a:ext cx="1371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D9DB5"/>
                </a:solidFill>
              </a:rPr>
              <a:t>Avatar &amp; İstatistikler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D9DB5"/>
                </a:solidFill>
              </a:rPr>
              <a:t>Tariflerim / Favorilerim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D9DB5"/>
                </a:solidFill>
              </a:rPr>
              <a:t>Sipariş Geçmişi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D9DB5"/>
                </a:solidFill>
              </a:rPr>
              <a:t>Ayarlar &amp; Tercihler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 Sayfa — Sayfa Akışı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60120" y="1280160"/>
            <a:ext cx="548640" cy="548640"/>
          </a:xfrm>
          <a:prstGeom prst="ellipse">
            <a:avLst/>
          </a:prstGeom>
          <a:solidFill>
            <a:srgbClr val="F65013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554480" y="1554480"/>
            <a:ext cx="640080" cy="0"/>
          </a:xfrm>
          <a:prstGeom prst="line">
            <a:avLst/>
          </a:prstGeom>
          <a:noFill/>
          <a:ln w="25400">
            <a:solidFill>
              <a:srgbClr val="3A3A5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50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554480" cy="109728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4688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Takip edilen kullanıcıların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paylaşımları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280160"/>
            <a:ext cx="548640" cy="548640"/>
          </a:xfrm>
          <a:prstGeom prst="ellipse">
            <a:avLst/>
          </a:prstGeom>
          <a:solidFill>
            <a:srgbClr val="FF9F4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37560" y="1554480"/>
            <a:ext cx="640080" cy="0"/>
          </a:xfrm>
          <a:prstGeom prst="line">
            <a:avLst/>
          </a:prstGeom>
          <a:noFill/>
          <a:ln w="25400">
            <a:solidFill>
              <a:srgbClr val="3A3A5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24028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F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Sub-Tabs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40280" y="2377440"/>
            <a:ext cx="1554480" cy="109728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31720" y="24688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Tarifler ↔ Restoranlar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değişimi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1280160"/>
            <a:ext cx="548640" cy="548640"/>
          </a:xfrm>
          <a:prstGeom prst="ellipse">
            <a:avLst/>
          </a:prstGeom>
          <a:solidFill>
            <a:srgbClr val="45AAF2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20640" y="1554480"/>
            <a:ext cx="640080" cy="0"/>
          </a:xfrm>
          <a:prstGeom prst="line">
            <a:avLst/>
          </a:prstGeom>
          <a:noFill/>
          <a:ln w="25400">
            <a:solidFill>
              <a:srgbClr val="3A3A5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02336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AA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Kategori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023360" y="2377440"/>
            <a:ext cx="1554480" cy="109728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0" y="24688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 filtreleri 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içerik daraltma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280160"/>
            <a:ext cx="548640" cy="548640"/>
          </a:xfrm>
          <a:prstGeom prst="ellipse">
            <a:avLst/>
          </a:prstGeom>
          <a:solidFill>
            <a:srgbClr val="2ED573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903720" y="1554480"/>
            <a:ext cx="640080" cy="0"/>
          </a:xfrm>
          <a:prstGeom prst="line">
            <a:avLst/>
          </a:prstGeom>
          <a:noFill/>
          <a:ln w="25400">
            <a:solidFill>
              <a:srgbClr val="3A3A5C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80644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D5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Kart Grid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06440" y="2377440"/>
            <a:ext cx="1554480" cy="109728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97880" y="24688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Dikey scroll 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sonsuz liste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92440" y="1280160"/>
            <a:ext cx="548640" cy="548640"/>
          </a:xfrm>
          <a:prstGeom prst="ellipse">
            <a:avLst/>
          </a:prstGeom>
          <a:solidFill>
            <a:srgbClr val="B388FF"/>
          </a:solidFill>
          <a:ln/>
        </p:spPr>
      </p:sp>
      <p:sp>
        <p:nvSpPr>
          <p:cNvPr id="28" name="Text 26"/>
          <p:cNvSpPr/>
          <p:nvPr/>
        </p:nvSpPr>
        <p:spPr>
          <a:xfrm>
            <a:off x="80924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58952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8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589520" y="2377440"/>
            <a:ext cx="1554480" cy="109728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80960" y="24688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panel 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bilgi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" y="3840480"/>
            <a:ext cx="54864" cy="822960"/>
          </a:xfrm>
          <a:prstGeom prst="rect">
            <a:avLst/>
          </a:prstGeom>
          <a:solidFill>
            <a:srgbClr val="F65013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023360"/>
            <a:ext cx="320040" cy="32004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371600" y="39319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Tarifler ve Restoranlar aynı sayfa yapısını paylaşır — sub-tab ile geçiş, aynı kart grid, farklı veri modeli. Bu tutarlılık öğrenme eğrisini düşürür.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Keşfet — Keşif &amp; Etkileşim Akışı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931920" cy="34747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Masonry Grid Sistemi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228600" cy="228600"/>
          </a:xfrm>
          <a:prstGeom prst="ellipse">
            <a:avLst/>
          </a:prstGeom>
          <a:solidFill>
            <a:srgbClr val="F6501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19202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Pinterest-Style 2 Kolon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176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yüksekliklerde kartlar, görsel zenginlik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606040"/>
            <a:ext cx="228600" cy="228600"/>
          </a:xfrm>
          <a:prstGeom prst="ellipse">
            <a:avLst/>
          </a:prstGeom>
          <a:solidFill>
            <a:srgbClr val="F6501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06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2560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Karışık İçerik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+ Restoran kartları aynı akışta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228600" cy="228600"/>
          </a:xfrm>
          <a:prstGeom prst="ellipse">
            <a:avLst/>
          </a:prstGeom>
          <a:solidFill>
            <a:srgbClr val="F6501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46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3200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 Ayrımı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456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 tasarımı otomatik olarak içerik tipine göre değişir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3886200"/>
            <a:ext cx="228600" cy="228600"/>
          </a:xfrm>
          <a:prstGeom prst="ellipse">
            <a:avLst/>
          </a:prstGeom>
          <a:solidFill>
            <a:srgbClr val="F65013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886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80160" y="3840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Detay Overlay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096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sayfa kaplaması yerine alt panel ile hızlı bilgi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Detay Modları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6320" y="1645920"/>
            <a:ext cx="3840480" cy="137160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645920"/>
            <a:ext cx="54864" cy="1371600"/>
          </a:xfrm>
          <a:prstGeom prst="rect">
            <a:avLst/>
          </a:prstGeom>
          <a:solidFill>
            <a:srgbClr val="F65013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783080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4406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50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Tarif Detayı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074920" y="2148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 · Kalori · Porsiyon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Malzemeler &amp; Adımlar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Yazar Profili · Kaydet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846320" y="3200400"/>
            <a:ext cx="3840480" cy="137160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846320" y="3200400"/>
            <a:ext cx="54864" cy="1371600"/>
          </a:xfrm>
          <a:prstGeom prst="rect">
            <a:avLst/>
          </a:prstGeom>
          <a:solidFill>
            <a:srgbClr val="2ED573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33756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4406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D5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Restoran Detayı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5074920" y="3703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· Teslimat Süresi · Ücret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Sipariş Tutarı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İşletme Bilgisi · Sipariş Ver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Sosyal Katman — Topluluk Özellikleri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931920" cy="155448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508760"/>
            <a:ext cx="640080" cy="640080"/>
          </a:xfrm>
          <a:prstGeom prst="ellipse">
            <a:avLst/>
          </a:prstGeom>
          <a:solidFill>
            <a:srgbClr val="23234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Stories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37360" y="1783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Takip edilen kullanıcıların güncel paylaşımları. Instagram-tarzı dairesel avatarlar.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931920" cy="155448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120640" y="1508760"/>
            <a:ext cx="640080" cy="640080"/>
          </a:xfrm>
          <a:prstGeom prst="ellipse">
            <a:avLst/>
          </a:prstGeom>
          <a:solidFill>
            <a:srgbClr val="23234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6459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Takip Sistemi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943600" y="1783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Kullanıcılar birbirini takip eder. Takipçi / Takip edilen sayıları profilde görünür.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017520"/>
            <a:ext cx="3931920" cy="155448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3337560"/>
            <a:ext cx="640080" cy="640080"/>
          </a:xfrm>
          <a:prstGeom prst="ellipse">
            <a:avLst/>
          </a:prstGeom>
          <a:solidFill>
            <a:srgbClr val="23234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4747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Beğeni &amp; Yorum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737360" y="3611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tarif ve restoran paylaşımına etkileşim. Topluluk geri bildirimi.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846320" y="3017520"/>
            <a:ext cx="3931920" cy="155448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120640" y="3337560"/>
            <a:ext cx="640080" cy="640080"/>
          </a:xfrm>
          <a:prstGeom prst="ellipse">
            <a:avLst/>
          </a:prstGeom>
          <a:solidFill>
            <a:srgbClr val="23234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34747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943600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Kaydetme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943600" y="3611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Favorilere ekleme. Kişisel koleksiyonlar oluşturma. Profil altında erişim.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QR Menü &amp; Restoran Profili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50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QR Menü Akışı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65760" cy="365760"/>
          </a:xfrm>
          <a:prstGeom prst="ellipse">
            <a:avLst/>
          </a:prstGeom>
          <a:solidFill>
            <a:srgbClr val="F6501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restoranda QR kodu tarar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029968"/>
            <a:ext cx="0" cy="274320"/>
          </a:xfrm>
          <a:prstGeom prst="line">
            <a:avLst/>
          </a:prstGeom>
          <a:noFill/>
          <a:ln w="19050">
            <a:solidFill>
              <a:srgbClr val="3A3A5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40080" y="2331720"/>
            <a:ext cx="365760" cy="365760"/>
          </a:xfrm>
          <a:prstGeom prst="ellipse">
            <a:avLst/>
          </a:prstGeom>
          <a:solidFill>
            <a:srgbClr val="F6501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restoran profil sayfasını açar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715768"/>
            <a:ext cx="0" cy="274320"/>
          </a:xfrm>
          <a:prstGeom prst="line">
            <a:avLst/>
          </a:prstGeom>
          <a:noFill/>
          <a:ln w="19050">
            <a:solidFill>
              <a:srgbClr val="3A3A5C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F6501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Menü kategorileri ile ürünlere göz atar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401568"/>
            <a:ext cx="0" cy="274320"/>
          </a:xfrm>
          <a:prstGeom prst="line">
            <a:avLst/>
          </a:prstGeom>
          <a:noFill/>
          <a:ln w="19050">
            <a:solidFill>
              <a:srgbClr val="3A3A5C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F6501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Sepete ekler → Yerinde sipariş verir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D5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Restoran Profil Sayfası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846320" y="1554480"/>
            <a:ext cx="3840480" cy="310896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1691640"/>
            <a:ext cx="73152" cy="411480"/>
          </a:xfrm>
          <a:prstGeom prst="rect">
            <a:avLst/>
          </a:prstGeom>
          <a:solidFill>
            <a:srgbClr val="3A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525780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Kapak Görseli + Logo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1892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İşletme markası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0" y="2240280"/>
            <a:ext cx="73152" cy="411480"/>
          </a:xfrm>
          <a:prstGeom prst="rect">
            <a:avLst/>
          </a:prstGeom>
          <a:solidFill>
            <a:srgbClr val="3A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2240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Bilgi Kartları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24414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Teslimat süresi · Ücret · Min sipariş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0" y="2788920"/>
            <a:ext cx="73152" cy="411480"/>
          </a:xfrm>
          <a:prstGeom prst="rect">
            <a:avLst/>
          </a:prstGeom>
          <a:solidFill>
            <a:srgbClr val="3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2788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Menü Kategorileri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2990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 tabanlı filtre navigasyonu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0" y="3337560"/>
            <a:ext cx="73152" cy="411480"/>
          </a:xfrm>
          <a:prstGeom prst="rect">
            <a:avLst/>
          </a:prstGeom>
          <a:solidFill>
            <a:srgbClr val="3A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5257800" y="3337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Ürün Kartları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35387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+ İsim + Fiyat + Ekle butonu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0" y="3886200"/>
            <a:ext cx="73152" cy="411480"/>
          </a:xfrm>
          <a:prstGeom prst="rect">
            <a:avLst/>
          </a:prstGeom>
          <a:solidFill>
            <a:srgbClr val="F65013"/>
          </a:solidFill>
          <a:ln/>
        </p:spPr>
      </p:sp>
      <p:sp>
        <p:nvSpPr>
          <p:cNvPr id="34" name="Text 32"/>
          <p:cNvSpPr/>
          <p:nvPr/>
        </p:nvSpPr>
        <p:spPr>
          <a:xfrm>
            <a:off x="5257800" y="3886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Sipariş Ver CTA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40873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alt bar, toplam fiyat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Asistan — Akıllı Deneyim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840480" y="1188720"/>
            <a:ext cx="1097280" cy="1097280"/>
          </a:xfrm>
          <a:prstGeom prst="ellipse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41732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371600"/>
            <a:ext cx="2286000" cy="109728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AA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Tarif Önerisi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Elindeki malzemelere göre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önerileri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675120" y="1371600"/>
            <a:ext cx="2286000" cy="109728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1228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AA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Diyet Planlama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1228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 beslenme hedeflerine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 haftalık plan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3017520"/>
            <a:ext cx="2286000" cy="109728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AA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Görsel Tanıma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3474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Kameradan yemek tanıma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kalori tahmini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675120" y="3017520"/>
            <a:ext cx="2286000" cy="109728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1228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AA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Sohbet Asistanı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12280" y="3474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dilde yemek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 yanıtlama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926080" y="1737360"/>
            <a:ext cx="914400" cy="0"/>
          </a:xfrm>
          <a:prstGeom prst="line">
            <a:avLst/>
          </a:prstGeom>
          <a:noFill/>
          <a:ln w="19050">
            <a:solidFill>
              <a:srgbClr val="3A3A5C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4937760" y="1737360"/>
            <a:ext cx="1737360" cy="0"/>
          </a:xfrm>
          <a:prstGeom prst="line">
            <a:avLst/>
          </a:prstGeom>
          <a:noFill/>
          <a:ln w="19050">
            <a:solidFill>
              <a:srgbClr val="3A3A5C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2926080" y="3566160"/>
            <a:ext cx="914400" cy="0"/>
          </a:xfrm>
          <a:prstGeom prst="line">
            <a:avLst/>
          </a:prstGeom>
          <a:noFill/>
          <a:ln w="19050">
            <a:solidFill>
              <a:srgbClr val="3A3A5C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4937760" y="3566160"/>
            <a:ext cx="1737360" cy="0"/>
          </a:xfrm>
          <a:prstGeom prst="line">
            <a:avLst/>
          </a:prstGeom>
          <a:noFill/>
          <a:ln w="19050">
            <a:solidFill>
              <a:srgbClr val="3A3A5C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Ekran Hiyerarşisi &amp; Sayfa Haritası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solidFill>
            <a:srgbClr val="F6501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YemekApp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554480"/>
            <a:ext cx="0" cy="274320"/>
          </a:xfrm>
          <a:prstGeom prst="line">
            <a:avLst/>
          </a:prstGeom>
          <a:noFill/>
          <a:ln w="12700">
            <a:solidFill>
              <a:srgbClr val="3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554480"/>
            <a:ext cx="0" cy="274320"/>
          </a:xfrm>
          <a:prstGeom prst="line">
            <a:avLst/>
          </a:prstGeom>
          <a:noFill/>
          <a:ln w="12700">
            <a:solidFill>
              <a:srgbClr val="3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554480"/>
            <a:ext cx="0" cy="274320"/>
          </a:xfrm>
          <a:prstGeom prst="line">
            <a:avLst/>
          </a:prstGeom>
          <a:noFill/>
          <a:ln w="12700">
            <a:solidFill>
              <a:srgbClr val="3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554480"/>
            <a:ext cx="0" cy="274320"/>
          </a:xfrm>
          <a:prstGeom prst="line">
            <a:avLst/>
          </a:prstGeom>
          <a:noFill/>
          <a:ln w="12700">
            <a:solidFill>
              <a:srgbClr val="3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554480"/>
            <a:ext cx="0" cy="274320"/>
          </a:xfrm>
          <a:prstGeom prst="line">
            <a:avLst/>
          </a:prstGeom>
          <a:noFill/>
          <a:ln w="12700">
            <a:solidFill>
              <a:srgbClr val="3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828800"/>
            <a:ext cx="7680960" cy="0"/>
          </a:xfrm>
          <a:prstGeom prst="line">
            <a:avLst/>
          </a:prstGeom>
          <a:noFill/>
          <a:ln w="19050">
            <a:solidFill>
              <a:srgbClr val="3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828800"/>
            <a:ext cx="0" cy="274320"/>
          </a:xfrm>
          <a:prstGeom prst="line">
            <a:avLst/>
          </a:prstGeom>
          <a:noFill/>
          <a:ln w="12700">
            <a:solidFill>
              <a:srgbClr val="3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03120"/>
            <a:ext cx="1280160" cy="365760"/>
          </a:xfrm>
          <a:prstGeom prst="rect">
            <a:avLst/>
          </a:prstGeom>
          <a:solidFill>
            <a:srgbClr val="F65013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Sayfa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0" y="1828800"/>
            <a:ext cx="0" cy="274320"/>
          </a:xfrm>
          <a:prstGeom prst="line">
            <a:avLst/>
          </a:prstGeom>
          <a:noFill/>
          <a:ln w="12700">
            <a:solidFill>
              <a:srgbClr val="3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2103120"/>
            <a:ext cx="1280160" cy="36576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Keşfet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828800"/>
            <a:ext cx="0" cy="274320"/>
          </a:xfrm>
          <a:prstGeom prst="line">
            <a:avLst/>
          </a:prstGeom>
          <a:noFill/>
          <a:ln w="12700">
            <a:solidFill>
              <a:srgbClr val="3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0" y="2103120"/>
            <a:ext cx="1280160" cy="365760"/>
          </a:xfrm>
          <a:prstGeom prst="rect">
            <a:avLst/>
          </a:prstGeom>
          <a:solidFill>
            <a:srgbClr val="45AAF2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0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1828800"/>
            <a:ext cx="0" cy="274320"/>
          </a:xfrm>
          <a:prstGeom prst="line">
            <a:avLst/>
          </a:prstGeom>
          <a:noFill/>
          <a:ln w="12700">
            <a:solidFill>
              <a:srgbClr val="3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2103120"/>
            <a:ext cx="1280160" cy="365760"/>
          </a:xfrm>
          <a:prstGeom prst="rect">
            <a:avLst/>
          </a:prstGeom>
          <a:solidFill>
            <a:srgbClr val="2ED573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0" y="1828800"/>
            <a:ext cx="0" cy="274320"/>
          </a:xfrm>
          <a:prstGeom prst="line">
            <a:avLst/>
          </a:prstGeom>
          <a:noFill/>
          <a:ln w="12700">
            <a:solidFill>
              <a:srgbClr val="3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2103120"/>
            <a:ext cx="1280160" cy="365760"/>
          </a:xfrm>
          <a:prstGeom prst="rect">
            <a:avLst/>
          </a:prstGeom>
          <a:solidFill>
            <a:srgbClr val="B388FF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2468880"/>
            <a:ext cx="0" cy="27432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" y="2743200"/>
            <a:ext cx="1554480" cy="274320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Tarifler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4400" y="2468880"/>
            <a:ext cx="0" cy="64008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" y="3108960"/>
            <a:ext cx="1554480" cy="274320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Restoranlar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14400" y="2468880"/>
            <a:ext cx="0" cy="100584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3474720"/>
            <a:ext cx="1554480" cy="274320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137160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14400" y="2468880"/>
            <a:ext cx="0" cy="137160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7160" y="3840480"/>
            <a:ext cx="1554480" cy="274320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13716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Detay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14400" y="2468880"/>
            <a:ext cx="0" cy="173736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7160" y="4206240"/>
            <a:ext cx="1554480" cy="274320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40" name="Text 38"/>
          <p:cNvSpPr/>
          <p:nvPr/>
        </p:nvSpPr>
        <p:spPr>
          <a:xfrm>
            <a:off x="13716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Rest. Detay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965960" y="2743200"/>
            <a:ext cx="1554480" cy="274320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42" name="Text 40"/>
          <p:cNvSpPr/>
          <p:nvPr/>
        </p:nvSpPr>
        <p:spPr>
          <a:xfrm>
            <a:off x="196596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Masonry Grid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965960" y="3108960"/>
            <a:ext cx="1554480" cy="274320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44" name="Text 42"/>
          <p:cNvSpPr/>
          <p:nvPr/>
        </p:nvSpPr>
        <p:spPr>
          <a:xfrm>
            <a:off x="196596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965960" y="3474720"/>
            <a:ext cx="1554480" cy="274320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46" name="Text 44"/>
          <p:cNvSpPr/>
          <p:nvPr/>
        </p:nvSpPr>
        <p:spPr>
          <a:xfrm>
            <a:off x="1965960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Filtreler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52360" y="2743200"/>
            <a:ext cx="1371600" cy="274320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48" name="Text 46"/>
          <p:cNvSpPr/>
          <p:nvPr/>
        </p:nvSpPr>
        <p:spPr>
          <a:xfrm>
            <a:off x="745236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Tariflerim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452360" y="3108960"/>
            <a:ext cx="1371600" cy="274320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50" name="Text 48"/>
          <p:cNvSpPr/>
          <p:nvPr/>
        </p:nvSpPr>
        <p:spPr>
          <a:xfrm>
            <a:off x="745236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Favoriler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452360" y="3474720"/>
            <a:ext cx="1371600" cy="274320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52" name="Text 50"/>
          <p:cNvSpPr/>
          <p:nvPr/>
        </p:nvSpPr>
        <p:spPr>
          <a:xfrm>
            <a:off x="745236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 Geçmişi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452360" y="3840480"/>
            <a:ext cx="1371600" cy="274320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54" name="Text 52"/>
          <p:cNvSpPr/>
          <p:nvPr/>
        </p:nvSpPr>
        <p:spPr>
          <a:xfrm>
            <a:off x="745236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Ayarlar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F65013">
              <a:alpha val="8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FF9F43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Sonraki Adımlar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325880"/>
            <a:ext cx="457200" cy="457200"/>
          </a:xfrm>
          <a:prstGeom prst="ellipse">
            <a:avLst/>
          </a:prstGeom>
          <a:solidFill>
            <a:srgbClr val="F6501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35331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Wireframe Prototipi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011680" y="15727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ekranın düşük sadakatli wireframe'leri oluşturulacak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2240280"/>
            <a:ext cx="457200" cy="457200"/>
          </a:xfrm>
          <a:prstGeom prst="ellipse">
            <a:avLst/>
          </a:prstGeom>
          <a:solidFill>
            <a:srgbClr val="45AAF2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26771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1168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Kullanıcı Testi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011680" y="24871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kullanıcıyla navigasyon akışı testi yapılacak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3154680"/>
            <a:ext cx="457200" cy="457200"/>
          </a:xfrm>
          <a:prstGeom prst="ellipse">
            <a:avLst/>
          </a:prstGeom>
          <a:solidFill>
            <a:srgbClr val="FF9F43"/>
          </a:solidFill>
          <a:ln/>
        </p:spPr>
      </p:sp>
      <p:sp>
        <p:nvSpPr>
          <p:cNvPr id="19" name="Text 15"/>
          <p:cNvSpPr/>
          <p:nvPr/>
        </p:nvSpPr>
        <p:spPr>
          <a:xfrm>
            <a:off x="8229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3182112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01168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System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2011680" y="34015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tabanlı component kütüphanesi genişletilecek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solidFill>
            <a:srgbClr val="2A2A4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2ED573"/>
          </a:solidFill>
          <a:ln/>
        </p:spPr>
      </p:sp>
      <p:sp>
        <p:nvSpPr>
          <p:cNvPr id="25" name="Text 20"/>
          <p:cNvSpPr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4096512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01168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 Geliştirme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2011680" y="43159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Sayfa + Keşfet + Detay ile ilk sürüm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2743200" y="4572000"/>
            <a:ext cx="3657600" cy="45720"/>
          </a:xfrm>
          <a:prstGeom prst="rect">
            <a:avLst/>
          </a:prstGeom>
          <a:solidFill>
            <a:srgbClr val="F65013"/>
          </a:solidFill>
          <a:ln/>
        </p:spPr>
      </p:sp>
      <p:sp>
        <p:nvSpPr>
          <p:cNvPr id="30" name="Text 24"/>
          <p:cNvSpPr/>
          <p:nvPr/>
        </p:nvSpPr>
        <p:spPr>
          <a:xfrm>
            <a:off x="18288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 için teşekkürler!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YemekApp — Bilgi Mimarisi &amp; Navigasyon Planlaması</dc:title>
  <dc:subject>PptxGenJS Presentation</dc:subject>
  <dc:creator>Product Owner / UX Designer</dc:creator>
  <cp:lastModifiedBy>Product Owner / UX Designer</cp:lastModifiedBy>
  <cp:revision>1</cp:revision>
  <dcterms:created xsi:type="dcterms:W3CDTF">2026-04-04T12:25:55Z</dcterms:created>
  <dcterms:modified xsi:type="dcterms:W3CDTF">2026-04-04T12:25:55Z</dcterms:modified>
</cp:coreProperties>
</file>